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C741D-C038-40F0-9395-4872F42A157D}" v="108" dt="2026-10-22T18:17:58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-1063625" y="646113"/>
            <a:ext cx="7008812" cy="1689101"/>
          </a:xfrm>
        </p:spPr>
        <p:txBody>
          <a:bodyPr>
            <a:normAutofit fontScale="90000"/>
          </a:bodyPr>
          <a:lstStyle/>
          <a:p>
            <a:r>
              <a:rPr lang="vi-VN" sz="4800" dirty="0">
                <a:latin typeface="Times New Roman"/>
                <a:cs typeface="Times New Roman"/>
              </a:rPr>
              <a:t>Bùi Xuân Hải</a:t>
            </a:r>
            <a:br>
              <a:rPr lang="vi-VN" sz="4800" dirty="0">
                <a:latin typeface="Times New Roman"/>
                <a:cs typeface="Times New Roman"/>
              </a:rPr>
            </a:br>
            <a:r>
              <a:rPr lang="vi-VN" sz="4800" dirty="0">
                <a:latin typeface="Times New Roman"/>
                <a:cs typeface="Times New Roman"/>
              </a:rPr>
              <a:t> HE200952      </a:t>
            </a:r>
            <a:br>
              <a:rPr lang="vi-VN" sz="4800" dirty="0">
                <a:latin typeface="Times New Roman"/>
                <a:cs typeface="Times New Roman"/>
              </a:rPr>
            </a:br>
            <a:r>
              <a:rPr lang="vi-VN" sz="4800">
                <a:latin typeface="Times New Roman"/>
                <a:cs typeface="Times New Roman"/>
              </a:rPr>
              <a:t>Project 2 :     </a:t>
            </a:r>
            <a:r>
              <a:rPr lang="vi-VN" sz="4800" dirty="0"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404938" y="2736850"/>
            <a:ext cx="93741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4000">
                <a:latin typeface="Arial"/>
                <a:ea typeface="+mn-lt"/>
                <a:cs typeface="Arial"/>
              </a:rPr>
              <a:t>8-bit RISC Processor Core with a 5-Stage Pipeline</a:t>
            </a:r>
            <a:endParaRPr lang="vi-VN" sz="4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818647-A547-E1D1-0FCC-5FAA8438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Processor Specifications &amp; Key Features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DA4BD02-8D7F-E205-BB96-E3F7B508D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b="1">
                <a:ea typeface="+mn-lt"/>
                <a:cs typeface="+mn-lt"/>
              </a:rPr>
              <a:t>Architecture:</a:t>
            </a:r>
            <a:r>
              <a:rPr lang="vi-VN">
                <a:ea typeface="+mn-lt"/>
                <a:cs typeface="+mn-lt"/>
              </a:rPr>
              <a:t> Harvard (Separate Instruction &amp; Data memory)</a:t>
            </a:r>
            <a:endParaRPr lang="vi-VN">
              <a:cs typeface="Arial" panose="020B0604020202020204" pitchFamily="34" charset="0"/>
            </a:endParaRPr>
          </a:p>
          <a:p>
            <a:r>
              <a:rPr lang="vi-VN" b="1">
                <a:ea typeface="+mn-lt"/>
                <a:cs typeface="+mn-lt"/>
              </a:rPr>
              <a:t>Data Width:</a:t>
            </a:r>
            <a:r>
              <a:rPr lang="vi-VN">
                <a:ea typeface="+mn-lt"/>
                <a:cs typeface="+mn-lt"/>
              </a:rPr>
              <a:t> 8-bit Datapath &amp; PC | 16-bit Instructions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Storage:</a:t>
            </a:r>
            <a:r>
              <a:rPr lang="vi-VN">
                <a:ea typeface="+mn-lt"/>
                <a:cs typeface="+mn-lt"/>
              </a:rPr>
              <a:t> 8 General-Purpose Registers (</a:t>
            </a:r>
            <a:r>
              <a:rPr lang="vi-VN">
                <a:latin typeface="Consolas"/>
              </a:rPr>
              <a:t>R0</a:t>
            </a:r>
            <a:r>
              <a:rPr lang="vi-VN">
                <a:ea typeface="+mn-lt"/>
                <a:cs typeface="+mn-lt"/>
              </a:rPr>
              <a:t>-</a:t>
            </a:r>
            <a:r>
              <a:rPr lang="vi-VN">
                <a:latin typeface="Consolas"/>
              </a:rPr>
              <a:t>R7</a:t>
            </a:r>
            <a:r>
              <a:rPr lang="vi-VN">
                <a:ea typeface="+mn-lt"/>
                <a:cs typeface="+mn-lt"/>
              </a:rPr>
              <a:t>) | 2 Flags (</a:t>
            </a:r>
            <a:r>
              <a:rPr lang="vi-VN">
                <a:latin typeface="Consolas"/>
              </a:rPr>
              <a:t>Z</a:t>
            </a:r>
            <a:r>
              <a:rPr lang="vi-VN">
                <a:ea typeface="+mn-lt"/>
                <a:cs typeface="+mn-lt"/>
              </a:rPr>
              <a:t>, </a:t>
            </a:r>
            <a:r>
              <a:rPr lang="vi-VN">
                <a:latin typeface="Consolas"/>
              </a:rPr>
              <a:t>C</a:t>
            </a:r>
            <a:r>
              <a:rPr lang="vi-VN">
                <a:ea typeface="+mn-lt"/>
                <a:cs typeface="+mn-lt"/>
              </a:rPr>
              <a:t>)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Pipeline:</a:t>
            </a:r>
            <a:r>
              <a:rPr lang="vi-VN">
                <a:ea typeface="+mn-lt"/>
                <a:cs typeface="+mn-lt"/>
              </a:rPr>
              <a:t> 5-Stage (</a:t>
            </a:r>
            <a:r>
              <a:rPr lang="vi-VN">
                <a:latin typeface="Consolas"/>
              </a:rPr>
              <a:t>IF - ID - EX - MEM - WB</a:t>
            </a:r>
            <a:r>
              <a:rPr lang="vi-VN">
                <a:ea typeface="+mn-lt"/>
                <a:cs typeface="+mn-lt"/>
              </a:rPr>
              <a:t>)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Implementation:</a:t>
            </a:r>
            <a:r>
              <a:rPr lang="vi-VN">
                <a:ea typeface="+mn-lt"/>
                <a:cs typeface="+mn-lt"/>
              </a:rPr>
              <a:t> Hardware hazard resolution | Synthesized on Xilinx Vivado (Artix-7)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90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3D67302-EACC-B87A-9556-89462AA2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Instruction Set Architecture (ISA)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BF22574-8B05-B336-5552-228E09307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vi-VN" b="1">
                <a:ea typeface="+mn-lt"/>
                <a:cs typeface="+mn-lt"/>
              </a:rPr>
              <a:t>Fixed 16-bit Instruction Format:</a:t>
            </a:r>
            <a:endParaRPr lang="vi-VN">
              <a:cs typeface="Arial" panose="020B0604020202020204" pitchFamily="34" charset="0"/>
            </a:endParaRPr>
          </a:p>
          <a:p>
            <a:r>
              <a:rPr lang="vi-VN">
                <a:latin typeface="Consolas"/>
              </a:rPr>
              <a:t>[15:12]</a:t>
            </a:r>
            <a:r>
              <a:rPr lang="vi-VN">
                <a:latin typeface="Arial"/>
                <a:ea typeface="+mn-lt"/>
                <a:cs typeface="Arial"/>
              </a:rPr>
              <a:t>: Opcode (4 bits) -&gt; Supports exactly 16 instructions.</a:t>
            </a:r>
            <a:endParaRPr lang="vi-VN">
              <a:latin typeface="Arial"/>
              <a:cs typeface="Arial"/>
            </a:endParaRPr>
          </a:p>
          <a:p>
            <a:r>
              <a:rPr lang="vi-VN">
                <a:latin typeface="Consolas"/>
              </a:rPr>
              <a:t>[11:9]</a:t>
            </a:r>
            <a:r>
              <a:rPr lang="vi-VN">
                <a:ea typeface="+mn-lt"/>
                <a:cs typeface="+mn-lt"/>
              </a:rPr>
              <a:t>: Destination Register </a:t>
            </a:r>
            <a:r>
              <a:rPr lang="vi-VN">
                <a:latin typeface="Consolas"/>
              </a:rPr>
              <a:t>rd</a:t>
            </a:r>
            <a:r>
              <a:rPr lang="vi-VN">
                <a:ea typeface="+mn-lt"/>
                <a:cs typeface="+mn-lt"/>
              </a:rPr>
              <a:t> (3 bits).</a:t>
            </a:r>
            <a:endParaRPr lang="vi-VN"/>
          </a:p>
          <a:p>
            <a:r>
              <a:rPr lang="vi-VN">
                <a:latin typeface="Consolas"/>
              </a:rPr>
              <a:t>[8:0]</a:t>
            </a:r>
            <a:r>
              <a:rPr lang="vi-VN">
                <a:ea typeface="+mn-lt"/>
                <a:cs typeface="+mn-lt"/>
              </a:rPr>
              <a:t>: Source Registers (</a:t>
            </a:r>
            <a:r>
              <a:rPr lang="vi-VN">
                <a:latin typeface="Consolas"/>
              </a:rPr>
              <a:t>rs1</a:t>
            </a:r>
            <a:r>
              <a:rPr lang="vi-VN">
                <a:ea typeface="+mn-lt"/>
                <a:cs typeface="+mn-lt"/>
              </a:rPr>
              <a:t>, </a:t>
            </a:r>
            <a:r>
              <a:rPr lang="vi-VN">
                <a:latin typeface="Consolas"/>
              </a:rPr>
              <a:t>rs2</a:t>
            </a:r>
            <a:r>
              <a:rPr lang="vi-VN">
                <a:ea typeface="+mn-lt"/>
                <a:cs typeface="+mn-lt"/>
              </a:rPr>
              <a:t>), Immediate values, or Addresses.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Instruction Categories (16 Instructions):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ALU &amp; Shift: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ADD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SUB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AND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OR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XOR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SHL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SHR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Immediate: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LDI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ADDI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Memory Access: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LD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ST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Control Flow (Branching):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JMP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BZ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BNZ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HLT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196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1106B45-BFDF-0017-A987-D0B7E10C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18" y="-854598"/>
            <a:ext cx="5137932" cy="2063187"/>
          </a:xfrm>
        </p:spPr>
        <p:txBody>
          <a:bodyPr/>
          <a:lstStyle/>
          <a:p>
            <a:r>
              <a:rPr lang="vi-VN">
                <a:ea typeface="+mj-lt"/>
                <a:cs typeface="+mj-lt"/>
              </a:rPr>
              <a:t>Top-Level Architecture (RTL Modules)</a:t>
            </a:r>
            <a:endParaRPr lang="vi-VN"/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4DEA4F34-BA36-DD84-4CF2-C7E2F0D2C7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946" r="12946"/>
          <a:stretch/>
        </p:blipFill>
        <p:spPr>
          <a:xfrm>
            <a:off x="5152708" y="454025"/>
            <a:ext cx="7223760" cy="5704205"/>
          </a:xfrm>
          <a:prstGeom prst="rect">
            <a:avLst/>
          </a:prstGeom>
        </p:spPr>
      </p:pic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BAAFCEB6-2AA7-22C9-78F6-02A22C87B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9224" y="1933165"/>
            <a:ext cx="4337350" cy="37922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vi-VN" sz="1800" b="1">
                <a:latin typeface="Consolas"/>
              </a:rPr>
              <a:t>imem</a:t>
            </a:r>
            <a:r>
              <a:rPr lang="vi-VN" sz="1800" b="1">
                <a:latin typeface="Arial"/>
                <a:ea typeface="+mn-lt"/>
                <a:cs typeface="Arial"/>
              </a:rPr>
              <a:t> &amp; </a:t>
            </a:r>
            <a:r>
              <a:rPr lang="vi-VN" sz="1800" b="1">
                <a:latin typeface="Consolas"/>
              </a:rPr>
              <a:t>dmem</a:t>
            </a:r>
            <a:r>
              <a:rPr lang="vi-VN" sz="1800" b="1">
                <a:latin typeface="Arial"/>
                <a:ea typeface="+mn-lt"/>
                <a:cs typeface="Arial"/>
              </a:rPr>
              <a:t>:</a:t>
            </a:r>
            <a:r>
              <a:rPr lang="vi-VN" sz="1800" dirty="0">
                <a:latin typeface="Arial"/>
                <a:ea typeface="+mn-lt"/>
                <a:cs typeface="Arial"/>
              </a:rPr>
              <a:t> </a:t>
            </a:r>
            <a:r>
              <a:rPr lang="vi-VN" sz="1800">
                <a:latin typeface="Arial"/>
                <a:ea typeface="+mn-lt"/>
                <a:cs typeface="Arial"/>
              </a:rPr>
              <a:t>Instruction ROM (256x16) and Distributed LUT-RAM (256x8).</a:t>
            </a:r>
            <a:endParaRPr lang="vi-VN" sz="18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1800" b="1">
                <a:latin typeface="Consolas"/>
              </a:rPr>
              <a:t>control_unit</a:t>
            </a:r>
            <a:r>
              <a:rPr lang="vi-VN" sz="1800" b="1">
                <a:latin typeface="Arial"/>
                <a:ea typeface="+mn-lt"/>
                <a:cs typeface="Arial"/>
              </a:rPr>
              <a:t>:</a:t>
            </a:r>
            <a:r>
              <a:rPr lang="vi-VN" sz="1800" dirty="0">
                <a:latin typeface="Arial"/>
                <a:ea typeface="+mn-lt"/>
                <a:cs typeface="Arial"/>
              </a:rPr>
              <a:t> </a:t>
            </a:r>
            <a:r>
              <a:rPr lang="vi-VN" sz="1800">
                <a:latin typeface="Arial"/>
                <a:ea typeface="+mn-lt"/>
                <a:cs typeface="Arial"/>
              </a:rPr>
              <a:t>Combinational decoder generating 14 control signals.</a:t>
            </a:r>
            <a:endParaRPr lang="vi-VN" sz="18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1800" b="1">
                <a:latin typeface="Consolas"/>
              </a:rPr>
              <a:t>regfile</a:t>
            </a:r>
            <a:r>
              <a:rPr lang="vi-VN" sz="1800" b="1">
                <a:latin typeface="Arial"/>
                <a:ea typeface="+mn-lt"/>
                <a:cs typeface="Arial"/>
              </a:rPr>
              <a:t>:</a:t>
            </a:r>
            <a:r>
              <a:rPr lang="vi-VN" sz="1800">
                <a:latin typeface="Arial"/>
                <a:ea typeface="+mn-lt"/>
                <a:cs typeface="Arial"/>
              </a:rPr>
              <a:t> 8x8-bit register file featuring Write-through bypass.</a:t>
            </a:r>
            <a:endParaRPr lang="vi-VN" sz="18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1800" b="1">
                <a:latin typeface="Consolas"/>
              </a:rPr>
              <a:t>alu</a:t>
            </a:r>
            <a:r>
              <a:rPr lang="vi-VN" sz="1800" b="1">
                <a:latin typeface="Arial"/>
                <a:ea typeface="+mn-lt"/>
                <a:cs typeface="Arial"/>
              </a:rPr>
              <a:t>:</a:t>
            </a:r>
            <a:r>
              <a:rPr lang="vi-VN" sz="1800">
                <a:latin typeface="Arial"/>
                <a:ea typeface="+mn-lt"/>
                <a:cs typeface="Arial"/>
              </a:rPr>
              <a:t> Performs arithmetic/logic and updates </a:t>
            </a:r>
            <a:r>
              <a:rPr lang="vi-VN" sz="1800">
                <a:latin typeface="Consolas"/>
              </a:rPr>
              <a:t>Z</a:t>
            </a:r>
            <a:r>
              <a:rPr lang="vi-VN" sz="1800">
                <a:latin typeface="Arial"/>
                <a:ea typeface="+mn-lt"/>
                <a:cs typeface="Arial"/>
              </a:rPr>
              <a:t>, </a:t>
            </a:r>
            <a:r>
              <a:rPr lang="vi-VN" sz="1800">
                <a:latin typeface="Consolas"/>
              </a:rPr>
              <a:t>C</a:t>
            </a:r>
            <a:r>
              <a:rPr lang="vi-VN" sz="1800">
                <a:latin typeface="Arial"/>
                <a:ea typeface="+mn-lt"/>
                <a:cs typeface="Arial"/>
              </a:rPr>
              <a:t> flags.</a:t>
            </a:r>
            <a:endParaRPr lang="vi-VN" sz="18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1800" b="1">
                <a:latin typeface="Consolas"/>
              </a:rPr>
              <a:t>hazard_unit</a:t>
            </a:r>
            <a:r>
              <a:rPr lang="vi-VN" sz="1800" b="1">
                <a:latin typeface="Arial"/>
                <a:ea typeface="+mn-lt"/>
                <a:cs typeface="Arial"/>
              </a:rPr>
              <a:t>:</a:t>
            </a:r>
            <a:r>
              <a:rPr lang="vi-VN" sz="1800">
                <a:latin typeface="Arial"/>
                <a:ea typeface="+mn-lt"/>
                <a:cs typeface="Arial"/>
              </a:rPr>
              <a:t> Detects data/control hazards and outputs Stall/Forwarding signals.</a:t>
            </a:r>
            <a:endParaRPr lang="vi-VN" sz="1800" dirty="0">
              <a:latin typeface="Arial"/>
              <a:cs typeface="Arial"/>
            </a:endParaRPr>
          </a:p>
          <a:p>
            <a:endParaRPr lang="vi-VN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332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2F65BB8-0C05-8CAB-C14F-A404511F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The 5-Stage Datapath &amp; Pipeline Control</a:t>
            </a:r>
            <a:endParaRPr lang="vi-VN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EA983AD-03FF-86CA-C50D-8F0C9C85B32B}"/>
              </a:ext>
            </a:extLst>
          </p:cNvPr>
          <p:cNvSpPr>
            <a:spLocks noGrp="1" noChangeAspect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vi-VN" b="1">
                <a:ea typeface="+mn-lt"/>
                <a:cs typeface="+mn-lt"/>
              </a:rPr>
              <a:t>5. Datapath &amp; Pipeline Control</a:t>
            </a:r>
            <a:endParaRPr lang="vi-VN">
              <a:cs typeface="Arial" panose="020B0604020202020204" pitchFamily="34" charset="0"/>
            </a:endParaRPr>
          </a:p>
          <a:p>
            <a:r>
              <a:rPr lang="vi-VN" b="1">
                <a:ea typeface="+mn-lt"/>
                <a:cs typeface="+mn-lt"/>
              </a:rPr>
              <a:t>5 Processing Stages: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IF (Instruction Fetch):</a:t>
            </a:r>
            <a:r>
              <a:rPr lang="vi-VN">
                <a:ea typeface="+mn-lt"/>
                <a:cs typeface="+mn-lt"/>
              </a:rPr>
              <a:t> Fetch instruction from </a:t>
            </a:r>
            <a:r>
              <a:rPr lang="vi-VN">
                <a:latin typeface="Consolas"/>
              </a:rPr>
              <a:t>imem</a:t>
            </a:r>
            <a:r>
              <a:rPr lang="vi-VN">
                <a:ea typeface="+mn-lt"/>
                <a:cs typeface="+mn-lt"/>
              </a:rPr>
              <a:t>, update PC.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ID (Instruction Decode):</a:t>
            </a:r>
            <a:r>
              <a:rPr lang="vi-VN">
                <a:ea typeface="+mn-lt"/>
                <a:cs typeface="+mn-lt"/>
              </a:rPr>
              <a:t> Decode opcode, read </a:t>
            </a:r>
            <a:r>
              <a:rPr lang="vi-VN">
                <a:latin typeface="Consolas"/>
              </a:rPr>
              <a:t>regfile</a:t>
            </a:r>
            <a:r>
              <a:rPr lang="vi-VN">
                <a:ea typeface="+mn-lt"/>
                <a:cs typeface="+mn-lt"/>
              </a:rPr>
              <a:t>, check hazards.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EX (Execute):</a:t>
            </a:r>
            <a:r>
              <a:rPr lang="vi-VN">
                <a:ea typeface="+mn-lt"/>
                <a:cs typeface="+mn-lt"/>
              </a:rPr>
              <a:t> ALU operations, calculate branch targets.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MEM (Memory Access):</a:t>
            </a:r>
            <a:r>
              <a:rPr lang="vi-VN">
                <a:ea typeface="+mn-lt"/>
                <a:cs typeface="+mn-lt"/>
              </a:rPr>
              <a:t> Read/Write to </a:t>
            </a:r>
            <a:r>
              <a:rPr lang="vi-VN">
                <a:latin typeface="Consolas"/>
              </a:rPr>
              <a:t>dmem</a:t>
            </a:r>
            <a:r>
              <a:rPr lang="vi-VN">
                <a:ea typeface="+mn-lt"/>
                <a:cs typeface="+mn-lt"/>
              </a:rPr>
              <a:t>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WB (Write-Back):</a:t>
            </a:r>
            <a:r>
              <a:rPr lang="vi-VN">
                <a:ea typeface="+mn-lt"/>
                <a:cs typeface="+mn-lt"/>
              </a:rPr>
              <a:t> Write final results back to </a:t>
            </a:r>
            <a:r>
              <a:rPr lang="vi-VN">
                <a:latin typeface="Consolas"/>
              </a:rPr>
              <a:t>regfile</a:t>
            </a:r>
            <a:r>
              <a:rPr lang="vi-VN">
                <a:ea typeface="+mn-lt"/>
                <a:cs typeface="+mn-lt"/>
              </a:rPr>
              <a:t>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Pipeline Registers &amp; Principle: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4 Barrier Registers:</a:t>
            </a:r>
            <a:r>
              <a:rPr lang="vi-VN">
                <a:ea typeface="+mn-lt"/>
                <a:cs typeface="+mn-lt"/>
              </a:rPr>
              <a:t> </a:t>
            </a:r>
            <a:r>
              <a:rPr lang="vi-VN">
                <a:latin typeface="Consolas"/>
              </a:rPr>
              <a:t>IF/ID</a:t>
            </a:r>
            <a:r>
              <a:rPr lang="vi-VN">
                <a:ea typeface="+mn-lt"/>
                <a:cs typeface="+mn-lt"/>
              </a:rPr>
              <a:t>, </a:t>
            </a:r>
            <a:r>
              <a:rPr lang="vi-VN">
                <a:latin typeface="Consolas"/>
              </a:rPr>
              <a:t>ID/EX</a:t>
            </a:r>
            <a:r>
              <a:rPr lang="vi-VN">
                <a:ea typeface="+mn-lt"/>
                <a:cs typeface="+mn-lt"/>
              </a:rPr>
              <a:t>, </a:t>
            </a:r>
            <a:r>
              <a:rPr lang="vi-VN">
                <a:latin typeface="Consolas"/>
              </a:rPr>
              <a:t>EX/MEM</a:t>
            </a:r>
            <a:r>
              <a:rPr lang="vi-VN">
                <a:ea typeface="+mn-lt"/>
                <a:cs typeface="+mn-lt"/>
              </a:rPr>
              <a:t>, </a:t>
            </a:r>
            <a:r>
              <a:rPr lang="vi-VN">
                <a:latin typeface="Consolas"/>
              </a:rPr>
              <a:t>MEM/WB</a:t>
            </a:r>
            <a:r>
              <a:rPr lang="vi-VN">
                <a:ea typeface="+mn-lt"/>
                <a:cs typeface="+mn-lt"/>
              </a:rPr>
              <a:t>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"Control travels with data":</a:t>
            </a:r>
            <a:r>
              <a:rPr lang="vi-VN">
                <a:ea typeface="+mn-lt"/>
                <a:cs typeface="+mn-lt"/>
              </a:rPr>
              <a:t> Signals are decoded in ID, but propagate through registers to trigger EX, MEM, and WB at the correct clock cycles.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7762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525B17-C49E-1BB0-87DA-2DA6556E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Pipeline Hazard Resolution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DC99E5A-45C2-88CA-DCD3-3745E38B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b="1">
                <a:ea typeface="+mn-lt"/>
                <a:cs typeface="+mn-lt"/>
              </a:rPr>
              <a:t>Data Hazards (RAW):</a:t>
            </a:r>
            <a:r>
              <a:rPr lang="vi-VN">
                <a:ea typeface="+mn-lt"/>
                <a:cs typeface="+mn-lt"/>
              </a:rPr>
              <a:t> Resolved via </a:t>
            </a:r>
            <a:r>
              <a:rPr lang="vi-VN" b="1">
                <a:ea typeface="+mn-lt"/>
                <a:cs typeface="+mn-lt"/>
              </a:rPr>
              <a:t>Data Forwarding</a:t>
            </a:r>
            <a:r>
              <a:rPr lang="vi-VN">
                <a:ea typeface="+mn-lt"/>
                <a:cs typeface="+mn-lt"/>
              </a:rPr>
              <a:t> &amp; Bypass (0-cycle penalty). Results from EX/MEM or MEM/WB are routed directly to ALU inputs.</a:t>
            </a:r>
            <a:endParaRPr lang="vi-VN">
              <a:cs typeface="Arial" panose="020B0604020202020204" pitchFamily="34" charset="0"/>
            </a:endParaRPr>
          </a:p>
          <a:p>
            <a:r>
              <a:rPr lang="vi-VN" b="1">
                <a:ea typeface="+mn-lt"/>
                <a:cs typeface="+mn-lt"/>
              </a:rPr>
              <a:t>Load-Use Hazards:</a:t>
            </a:r>
            <a:r>
              <a:rPr lang="vi-VN">
                <a:ea typeface="+mn-lt"/>
                <a:cs typeface="+mn-lt"/>
              </a:rPr>
              <a:t> Resolved via </a:t>
            </a:r>
            <a:r>
              <a:rPr lang="vi-VN" b="1">
                <a:ea typeface="+mn-lt"/>
                <a:cs typeface="+mn-lt"/>
              </a:rPr>
              <a:t>1-Cycle Stall</a:t>
            </a:r>
            <a:r>
              <a:rPr lang="vi-VN">
                <a:ea typeface="+mn-lt"/>
                <a:cs typeface="+mn-lt"/>
              </a:rPr>
              <a:t>. Hardware freezes </a:t>
            </a:r>
            <a:r>
              <a:rPr lang="vi-VN">
                <a:latin typeface="Consolas"/>
              </a:rPr>
              <a:t>PC</a:t>
            </a:r>
            <a:r>
              <a:rPr lang="vi-VN">
                <a:ea typeface="+mn-lt"/>
                <a:cs typeface="+mn-lt"/>
              </a:rPr>
              <a:t> and </a:t>
            </a:r>
            <a:r>
              <a:rPr lang="vi-VN">
                <a:latin typeface="Consolas"/>
              </a:rPr>
              <a:t>IF/ID</a:t>
            </a:r>
            <a:r>
              <a:rPr lang="vi-VN">
                <a:ea typeface="+mn-lt"/>
                <a:cs typeface="+mn-lt"/>
              </a:rPr>
              <a:t>, inserting a "bubble" if an instruction immediately depends on a </a:t>
            </a:r>
            <a:r>
              <a:rPr lang="vi-VN">
                <a:latin typeface="Consolas"/>
              </a:rPr>
              <a:t>LD</a:t>
            </a:r>
            <a:r>
              <a:rPr lang="vi-VN">
                <a:ea typeface="+mn-lt"/>
                <a:cs typeface="+mn-lt"/>
              </a:rPr>
              <a:t>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Control Hazards:</a:t>
            </a:r>
            <a:r>
              <a:rPr lang="vi-VN">
                <a:ea typeface="+mn-lt"/>
                <a:cs typeface="+mn-lt"/>
              </a:rPr>
              <a:t> Resolved via </a:t>
            </a:r>
            <a:r>
              <a:rPr lang="vi-VN" b="1">
                <a:ea typeface="+mn-lt"/>
                <a:cs typeface="+mn-lt"/>
              </a:rPr>
              <a:t>2-Cycle Flush</a:t>
            </a:r>
            <a:r>
              <a:rPr lang="vi-VN">
                <a:ea typeface="+mn-lt"/>
                <a:cs typeface="+mn-lt"/>
              </a:rPr>
              <a:t>. Branch decisions happen at EX stage. If a branch is TAKEN, the 2 wrong-path instructions in IF and ID are flushed.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70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61B51D7-6A56-BD1E-FBB6-A409B4E1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68" y="0"/>
            <a:ext cx="3932237" cy="1600200"/>
          </a:xfrm>
        </p:spPr>
        <p:txBody>
          <a:bodyPr/>
          <a:lstStyle/>
          <a:p>
            <a:r>
              <a:rPr lang="vi-VN">
                <a:ea typeface="+mj-lt"/>
                <a:cs typeface="+mj-lt"/>
              </a:rPr>
              <a:t>Detailed Waveform Analysis</a:t>
            </a:r>
            <a:endParaRPr lang="vi-VN"/>
          </a:p>
        </p:txBody>
      </p:sp>
      <p:pic>
        <p:nvPicPr>
          <p:cNvPr id="4" name="Chỗ dành sẵn cho Nội dung 3" descr="Ảnh có chứa văn bản, ảnh chụp màn hình, màn hình, số&#10;&#10;Nội dung do AI tạo ra có thể không chính xác.">
            <a:extLst>
              <a:ext uri="{FF2B5EF4-FFF2-40B4-BE49-F238E27FC236}">
                <a16:creationId xmlns:a16="http://schemas.microsoft.com/office/drawing/2014/main" id="{D49463EA-E4A2-EC18-4ABC-002DDD818E7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639" r="13639"/>
          <a:stretch/>
        </p:blipFill>
        <p:spPr>
          <a:prstGeom prst="rect">
            <a:avLst/>
          </a:prstGeom>
        </p:spPr>
      </p:pic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F4CB6F24-3005-1B87-DC64-12671800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668" y="1714500"/>
            <a:ext cx="3932237" cy="38115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vi-VN" sz="2000" b="1">
                <a:latin typeface="Arial"/>
                <a:ea typeface="+mn-lt"/>
                <a:cs typeface="Arial"/>
              </a:rPr>
              <a:t>Pipeline Fill:</a:t>
            </a:r>
            <a:r>
              <a:rPr lang="vi-VN" sz="2000">
                <a:latin typeface="Arial"/>
                <a:ea typeface="+mn-lt"/>
                <a:cs typeface="Arial"/>
              </a:rPr>
              <a:t> Initial 4-cycle delay before the first </a:t>
            </a:r>
            <a:r>
              <a:rPr lang="vi-VN" sz="2000">
                <a:latin typeface="Consolas"/>
              </a:rPr>
              <a:t>instr_done</a:t>
            </a:r>
            <a:r>
              <a:rPr lang="vi-VN" sz="2000">
                <a:latin typeface="Arial"/>
                <a:ea typeface="+mn-lt"/>
                <a:cs typeface="Arial"/>
              </a:rPr>
              <a:t> (Pipeline depth = 5).</a:t>
            </a:r>
            <a:endParaRPr lang="vi-VN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2000" b="1">
                <a:latin typeface="Arial"/>
                <a:ea typeface="+mn-lt"/>
                <a:cs typeface="Arial"/>
              </a:rPr>
              <a:t>Data Forwarding (0-Cycle Penalty):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>
                <a:latin typeface="Consolas"/>
              </a:rPr>
              <a:t>fwd_count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>
                <a:latin typeface="Arial"/>
                <a:ea typeface="+mn-lt"/>
                <a:cs typeface="Arial"/>
              </a:rPr>
              <a:t>increases actively, but </a:t>
            </a:r>
            <a:r>
              <a:rPr lang="vi-VN" sz="2000">
                <a:latin typeface="Consolas"/>
              </a:rPr>
              <a:t>stall_count</a:t>
            </a:r>
            <a:r>
              <a:rPr lang="vi-VN" sz="2000">
                <a:latin typeface="Arial"/>
                <a:ea typeface="+mn-lt"/>
                <a:cs typeface="Arial"/>
              </a:rPr>
              <a:t> remains strictly </a:t>
            </a:r>
            <a:r>
              <a:rPr lang="vi-VN" sz="2000">
                <a:latin typeface="Consolas"/>
              </a:rPr>
              <a:t>0</a:t>
            </a:r>
            <a:r>
              <a:rPr lang="vi-VN" sz="2000">
                <a:latin typeface="Arial"/>
                <a:ea typeface="+mn-lt"/>
                <a:cs typeface="Arial"/>
              </a:rPr>
              <a:t>.</a:t>
            </a:r>
            <a:endParaRPr lang="vi-VN" sz="20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vi-VN" sz="2000" b="1">
                <a:latin typeface="Arial"/>
                <a:ea typeface="+mn-lt"/>
                <a:cs typeface="Arial"/>
              </a:rPr>
              <a:t>Control Hazard (2-Cycle Penalty):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>
                <a:latin typeface="Arial"/>
                <a:ea typeface="+mn-lt"/>
                <a:cs typeface="Arial"/>
              </a:rPr>
              <a:t>When </a:t>
            </a:r>
            <a:r>
              <a:rPr lang="vi-VN" sz="2000">
                <a:latin typeface="Consolas"/>
              </a:rPr>
              <a:t>branch_count</a:t>
            </a:r>
            <a:r>
              <a:rPr lang="vi-VN" sz="2000">
                <a:latin typeface="Arial"/>
                <a:ea typeface="+mn-lt"/>
                <a:cs typeface="Arial"/>
              </a:rPr>
              <a:t> increments, </a:t>
            </a:r>
            <a:r>
              <a:rPr lang="vi-VN" sz="2000">
                <a:latin typeface="Consolas"/>
              </a:rPr>
              <a:t>instr_done</a:t>
            </a:r>
            <a:r>
              <a:rPr lang="vi-VN" sz="2000">
                <a:latin typeface="Arial"/>
                <a:ea typeface="+mn-lt"/>
                <a:cs typeface="Arial"/>
              </a:rPr>
              <a:t> drops to </a:t>
            </a:r>
            <a:r>
              <a:rPr lang="vi-VN" sz="2000">
                <a:latin typeface="Consolas"/>
              </a:rPr>
              <a:t>0</a:t>
            </a:r>
            <a:r>
              <a:rPr lang="vi-VN" sz="2000">
                <a:latin typeface="Arial"/>
                <a:ea typeface="+mn-lt"/>
                <a:cs typeface="Arial"/>
              </a:rPr>
              <a:t> for exactly 2 cycles (Wrong-path instructions flushed).</a:t>
            </a:r>
            <a:endParaRPr lang="vi-VN" sz="2000">
              <a:latin typeface="Arial"/>
              <a:cs typeface="Arial"/>
            </a:endParaRPr>
          </a:p>
          <a:p>
            <a:endParaRPr lang="vi-VN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65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7E951B4-9493-DA46-8379-6C9F99798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275863"/>
            <a:ext cx="3932237" cy="1600200"/>
          </a:xfrm>
        </p:spPr>
        <p:txBody>
          <a:bodyPr/>
          <a:lstStyle/>
          <a:p>
            <a:r>
              <a:rPr lang="vi-VN">
                <a:latin typeface="Times New Roman"/>
                <a:ea typeface="+mj-lt"/>
                <a:cs typeface="Times New Roman"/>
              </a:rPr>
              <a:t>Summary log</a:t>
            </a:r>
            <a:endParaRPr lang="vi-VN">
              <a:latin typeface="Times New Roman"/>
              <a:cs typeface="Times New Roman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81FEE9B-697D-11AF-71EA-D1825FC1E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8" name="Chỗ dành sẵn cho Hình ảnh 7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258F6EB1-BAF0-1B61-A704-0433BAB20B6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255" b="5255"/>
          <a:stretch/>
        </p:blipFill>
        <p:spPr>
          <a:xfrm>
            <a:off x="2810378" y="1517931"/>
            <a:ext cx="617220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3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6C0C12-ED96-1548-2F4B-32E3F58C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29A7B2B3-3DE7-1FA8-BB75-21996FCB58E1}"/>
              </a:ext>
            </a:extLst>
          </p:cNvPr>
          <p:cNvSpPr>
            <a:spLocks noGrp="1" noChangeAspect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1294177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9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0" baseType="lpstr">
      <vt:lpstr>Chủ đề của Office</vt:lpstr>
      <vt:lpstr>Bùi Xuân Hải  HE200952       Project 2 :      </vt:lpstr>
      <vt:lpstr>Processor Specifications &amp; Key Features</vt:lpstr>
      <vt:lpstr>Instruction Set Architecture (ISA)</vt:lpstr>
      <vt:lpstr>Top-Level Architecture (RTL Modules)</vt:lpstr>
      <vt:lpstr>The 5-Stage Datapath &amp; Pipeline Control</vt:lpstr>
      <vt:lpstr>Pipeline Hazard Resolution</vt:lpstr>
      <vt:lpstr>Detailed Waveform Analysis</vt:lpstr>
      <vt:lpstr>Summary log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2026-10-22T16:04:27Z</dcterms:created>
  <dcterms:modified xsi:type="dcterms:W3CDTF">2026-10-25T17:59:51Z</dcterms:modified>
</cp:coreProperties>
</file>